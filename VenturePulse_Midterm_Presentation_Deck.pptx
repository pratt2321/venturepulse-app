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🦄 VENTUREPULSE: STARTUP VALUATION INTELLIGENCE</a:t>
            </a:r>
          </a:p>
          <a:p>
            <a:pPr>
              <a:spcBef>
                <a:spcPts val="800"/>
              </a:spcBef>
              <a:defRPr sz="1600">
                <a:solidFill>
                  <a:srgbClr val="00F2FE"/>
                </a:solidFill>
              </a:defRPr>
            </a:pPr>
            <a:r>
              <a:t>Reverse-Engineering Private Tech Pricing Across 1,447 Global Unicorns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Pratham Pradhan  |  CMSE 830: Foundations of Data Science  |  Fall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383280"/>
            <a:ext cx="3383280" cy="256032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TOTAL VALUE TRACKED</a:t>
            </a:r>
          </a:p>
          <a:p>
            <a:pPr>
              <a:spcBef>
                <a:spcPts val="800"/>
              </a:spcBef>
              <a:defRPr sz="2200" b="1">
                <a:solidFill>
                  <a:srgbClr val="FFFFFF"/>
                </a:solidFill>
              </a:defRPr>
            </a:pPr>
            <a:r>
              <a:t>$7.40 Trillion</a:t>
            </a:r>
          </a:p>
          <a:p>
            <a:pPr>
              <a:spcBef>
                <a:spcPts val="1000"/>
              </a:spcBef>
              <a:defRPr sz="1100">
                <a:solidFill>
                  <a:srgbClr val="00F2FE"/>
                </a:solidFill>
              </a:defRPr>
            </a:pPr>
            <a:r>
              <a:t>Across 1,447 private tech unicorns worldwide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3383280"/>
            <a:ext cx="3383280" cy="256032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35661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DATASET COVERAGE</a:t>
            </a:r>
          </a:p>
          <a:p>
            <a:pPr>
              <a:spcBef>
                <a:spcPts val="800"/>
              </a:spcBef>
              <a:defRPr sz="2200" b="1">
                <a:solidFill>
                  <a:srgbClr val="FFFFFF"/>
                </a:solidFill>
              </a:defRPr>
            </a:pPr>
            <a:r>
              <a:t>55 Countries</a:t>
            </a:r>
          </a:p>
          <a:p>
            <a:pPr>
              <a:spcBef>
                <a:spcPts val="1000"/>
              </a:spcBef>
              <a:defRPr sz="1100">
                <a:solidFill>
                  <a:srgbClr val="00F2FE"/>
                </a:solidFill>
              </a:defRPr>
            </a:pPr>
            <a:r>
              <a:t>Spanning 6 core industries and 10+ tech hubs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383280"/>
            <a:ext cx="3383280" cy="256032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35661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CORE OBJECTIVE</a:t>
            </a:r>
          </a:p>
          <a:p>
            <a:pPr>
              <a:spcBef>
                <a:spcPts val="800"/>
              </a:spcBef>
              <a:defRPr sz="2200" b="1">
                <a:solidFill>
                  <a:srgbClr val="FFFFFF"/>
                </a:solidFill>
              </a:defRPr>
            </a:pPr>
            <a:r>
              <a:t>Market Transparency</a:t>
            </a:r>
          </a:p>
          <a:p>
            <a:pPr>
              <a:spcBef>
                <a:spcPts val="1000"/>
              </a:spcBef>
              <a:defRPr sz="1100">
                <a:solidFill>
                  <a:srgbClr val="00F2FE"/>
                </a:solidFill>
              </a:defRPr>
            </a:pPr>
            <a:r>
              <a:t>Demystifying pricing negotiated behind closed doors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</a:defRPr>
            </a:pPr>
            <a:r>
              <a:t>PART 2 • DATA READINESS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Data Hygiene: Taming the Power-Law Distribution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1. THE SKEWNESS CHALLENGE</a:t>
            </a:r>
          </a:p>
          <a:p>
            <a:pPr>
              <a:spcBef>
                <a:spcPts val="600"/>
              </a:spcBef>
              <a:defRPr b="1" sz="1050">
                <a:solidFill>
                  <a:srgbClr val="FFFFFF"/>
                </a:solidFill>
              </a:defRPr>
            </a:pPr>
            <a:r>
              <a:t>• Extreme Skewness (22.18): 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Valuations range from $1.0B to $965B (Anthropic). Modeling raw dollars causes linear regression to collapse with massive variance.</a:t>
            </a:r>
          </a:p>
          <a:p>
            <a:pPr>
              <a:spcBef>
                <a:spcPts val="600"/>
              </a:spcBef>
              <a:defRPr b="1" sz="1050">
                <a:solidFill>
                  <a:srgbClr val="FFFFFF"/>
                </a:solidFill>
              </a:defRPr>
            </a:pPr>
            <a:r>
              <a:t>• Log Transformation log(1 + y): 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Linearizes exponential compound returns, reducing skewness to 2.69 and stabilizing model errors.</a:t>
            </a:r>
          </a:p>
        </p:txBody>
      </p:sp>
      <p:pic>
        <p:nvPicPr>
          <p:cNvPr id="7" name="Picture 6" descr="slide2_skew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4846320" cy="22697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2. DUPLICATES &amp; IMPUTATION DECISIONS</a:t>
            </a:r>
          </a:p>
          <a:p>
            <a:pPr>
              <a:spcBef>
                <a:spcPts val="800"/>
              </a:spcBef>
              <a:defRPr b="1" sz="1050">
                <a:solidFill>
                  <a:srgbClr val="FFFFFF"/>
                </a:solidFill>
              </a:defRPr>
            </a:pPr>
            <a:r>
              <a:t>• The Homonym Disambiguation: 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Auditing duplicate names caught 2 copy-pasted duplicate rows (Ramp, Invoca), but preserved 3 legitimate name-collision pairs:</a:t>
            </a:r>
            <a:br/>
            <a:r>
              <a:t>  - Bolt US ($11B) vs. Bolt Estonia ($8.4B)</a:t>
            </a:r>
            <a:br/>
            <a:r>
              <a:t>  - Branch Metrics ($4B) vs. Branch Insurance ($1.05B)</a:t>
            </a:r>
            <a:br/>
            <a:r>
              <a:t>  - Fabric Washington ($1.5B) vs. Fabric NY ($1.0B).</a:t>
            </a:r>
          </a:p>
          <a:p>
            <a:pPr>
              <a:spcBef>
                <a:spcPts val="800"/>
              </a:spcBef>
              <a:defRPr b="1" sz="1050">
                <a:solidFill>
                  <a:srgbClr val="FFFFFF"/>
                </a:solidFill>
              </a:defRPr>
            </a:pPr>
            <a:r>
              <a:t>• Informative Missingness (Option C): 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50 companies kept investor data confidential. We coded their investor count to 1 and elite backer flags to 0 rather than fabricating fake data.</a:t>
            </a:r>
          </a:p>
          <a:p>
            <a:pPr>
              <a:spcBef>
                <a:spcPts val="800"/>
              </a:spcBef>
              <a:defRPr b="1" sz="1050">
                <a:solidFill>
                  <a:srgbClr val="FFFFFF"/>
                </a:solidFill>
              </a:defRPr>
            </a:pPr>
            <a:r>
              <a:t>• Geospatial Centroid Imputation: 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23 remote startups without listed cities were assigned national centroid coordinates with random coordinate jitter to prevent map stacking.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</a:defRPr>
            </a:pPr>
            <a:r>
              <a:t>PART 3 • EXPLORATORY DATA ANALYSIS (QUESTION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Key Finding 1: The Silicon Valley Wealth Monopoly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114800" cy="484632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GLOBAL WEALTH SHARE</a:t>
            </a:r>
          </a:p>
          <a:p>
            <a:pPr>
              <a:spcBef>
                <a:spcPts val="200"/>
              </a:spcBef>
              <a:defRPr sz="3600" b="1">
                <a:solidFill>
                  <a:srgbClr val="FFFFFF"/>
                </a:solidFill>
              </a:defRPr>
            </a:pPr>
            <a:r>
              <a:t>47.5%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Held by the SF Bay Area alone ($3,496 Billion out of $7,360 Billion total global unicorn capitalization).</a:t>
            </a:r>
          </a:p>
          <a:p>
            <a:pPr>
              <a:spcBef>
                <a:spcPts val="1400"/>
              </a:spcBef>
              <a:defRPr sz="1100" b="1">
                <a:solidFill>
                  <a:srgbClr val="10B981"/>
                </a:solidFill>
              </a:defRPr>
            </a:pPr>
            <a:r>
              <a:t>MEDIAN BASELINE DISPARITY</a:t>
            </a:r>
          </a:p>
          <a:p>
            <a:pPr>
              <a:spcBef>
                <a:spcPts val="200"/>
              </a:spcBef>
              <a:defRPr sz="2400" b="1">
                <a:solidFill>
                  <a:srgbClr val="FFFFFF"/>
                </a:solidFill>
              </a:defRPr>
            </a:pPr>
            <a:r>
              <a:t>$2.00B vs $1.60B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Typical Bay Area startup commands a 25% price premium over global baseline. Average is pulled to $9.90B by mega-titans.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371600"/>
            <a:ext cx="6309360" cy="484632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5087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REGIONAL ECOSYSTEM BREAKDOWN ($7.40T TOTAL)</a:t>
            </a:r>
          </a:p>
        </p:txBody>
      </p:sp>
      <p:pic>
        <p:nvPicPr>
          <p:cNvPr id="9" name="Picture 8" descr="slide3_geograp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5943600" cy="36332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</a:defRPr>
            </a:pPr>
            <a:r>
              <a:t>PART 3 • EXPLORATORY DATA ANALYSIS (QUESTION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Key Finding 2: The Frontier AI Valuation Multiplier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206240" cy="484632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2FE"/>
                </a:solidFill>
              </a:defRPr>
            </a:pPr>
            <a:r>
              <a:t>THE 8.5X ARTIFICIAL INTELLIGENCE PREMIUM</a:t>
            </a:r>
          </a:p>
          <a:p>
            <a:pPr>
              <a:spcBef>
                <a:spcPts val="800"/>
              </a:spcBef>
              <a:defRPr b="1" sz="1050">
                <a:solidFill>
                  <a:srgbClr val="FFFFFF"/>
                </a:solidFill>
              </a:defRPr>
            </a:pPr>
            <a:r>
              <a:t>• Average AI Valuation ($30.0B vs $3.5B):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Startups developing frontier foundation models average more than 8.5 times the valuation of traditional software peers.</a:t>
            </a:r>
          </a:p>
          <a:p>
            <a:pPr>
              <a:spcBef>
                <a:spcPts val="800"/>
              </a:spcBef>
              <a:defRPr b="1" sz="1050">
                <a:solidFill>
                  <a:srgbClr val="FFFFFF"/>
                </a:solidFill>
              </a:defRPr>
            </a:pPr>
            <a:r>
              <a:t>• Enterprise Tech Dominance (54.3%):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Enterprise Tech &amp; AI captures $3,994 Billion—over half of all global private unicorn value.</a:t>
            </a:r>
          </a:p>
          <a:p>
            <a:pPr>
              <a:spcBef>
                <a:spcPts val="800"/>
              </a:spcBef>
              <a:defRPr b="1" sz="1050">
                <a:solidFill>
                  <a:srgbClr val="FFFFFF"/>
                </a:solidFill>
              </a:defRPr>
            </a:pPr>
            <a:r>
              <a:t>• The Centicorn Vanguard: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The top of the pyramid is dominated by foundation model creators: Anthropic ($965B), OpenAI ($840B), Databricks ($190B), and DeepSeek ($50B).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371600"/>
            <a:ext cx="6217920" cy="484632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0" y="150876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EMPIRICAL VALUATION MULTIPLIERS &amp; REGRESSION WEIGHTS</a:t>
            </a:r>
          </a:p>
        </p:txBody>
      </p:sp>
      <p:pic>
        <p:nvPicPr>
          <p:cNvPr id="9" name="Picture 8" descr="slide4_ai_multipl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103120"/>
            <a:ext cx="5852160" cy="25900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</a:defRPr>
            </a:pPr>
            <a:r>
              <a:t>PART 5 • STREAMLIT APPLICATION &amp; DECISION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The Streamlit Data Product: VenturePulse Interactive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754880" cy="484632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PRODUCT ARCHITECTURE &amp; CONTROLS</a:t>
            </a:r>
          </a:p>
          <a:p>
            <a:pPr>
              <a:spcBef>
                <a:spcPts val="800"/>
              </a:spcBef>
              <a:defRPr b="1" sz="1050">
                <a:solidFill>
                  <a:srgbClr val="FFFFFF"/>
                </a:solidFill>
              </a:defRPr>
            </a:pPr>
            <a:r>
              <a:t>🗺️ TAB 1: 3D Geospatial Map: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Scatter plot of 1,447 unicorns with log-scaled bubbles and perspective toggles (Natural Earth, 3D Globe, Mercator).</a:t>
            </a:r>
          </a:p>
          <a:p>
            <a:pPr>
              <a:spcBef>
                <a:spcPts val="800"/>
              </a:spcBef>
              <a:defRPr b="1" sz="1050">
                <a:solidFill>
                  <a:srgbClr val="FFFFFF"/>
                </a:solidFill>
              </a:defRPr>
            </a:pPr>
            <a:r>
              <a:t>🎛️ TAB 2: VC Valuation Simulator: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Predictive pricing tool with sliders (Age, Sector, Location, Elite VC Backers). Computes estimated valuation with 80% confidence interval and finds nearest 3 peer comps.</a:t>
            </a:r>
          </a:p>
          <a:p>
            <a:pPr>
              <a:spcBef>
                <a:spcPts val="800"/>
              </a:spcBef>
              <a:defRPr b="1" sz="1050">
                <a:solidFill>
                  <a:srgbClr val="FFFFFF"/>
                </a:solidFill>
              </a:defRPr>
            </a:pPr>
            <a:r>
              <a:t>⚡ TAB 3: Decacorn Velocity Screener: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Identifies hyper-scaling outliers creating the highest annual enterprise value, plus full model weight transparency.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5669280" cy="484632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5087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LIVE STREAMLIT DASHBOARD PREVIEW (app/app.py)</a:t>
            </a:r>
          </a:p>
        </p:txBody>
      </p:sp>
      <p:pic>
        <p:nvPicPr>
          <p:cNvPr id="9" name="Picture 8" descr="streamli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011680"/>
            <a:ext cx="5303520" cy="32199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</a:defRPr>
            </a:pPr>
            <a:r>
              <a:t>PART 6 • BOUNDARIES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Limitations &amp; Final Project Horizon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CURRENT PROJECT LIMITATIONS</a:t>
            </a:r>
          </a:p>
          <a:p>
            <a:pPr>
              <a:spcBef>
                <a:spcPts val="800"/>
              </a:spcBef>
              <a:defRPr b="1" sz="1050">
                <a:solidFill>
                  <a:srgbClr val="FFFFFF"/>
                </a:solidFill>
              </a:defRPr>
            </a:pPr>
            <a:r>
              <a:t>• Survivorship Bias: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Our dataset only tracks startups that already crossed the $1B threshold. It does not predict early-stage startup bankruptcy or insolvency.</a:t>
            </a:r>
          </a:p>
          <a:p>
            <a:pPr>
              <a:spcBef>
                <a:spcPts val="800"/>
              </a:spcBef>
              <a:defRPr b="1" sz="1050">
                <a:solidFill>
                  <a:srgbClr val="FFFFFF"/>
                </a:solidFill>
              </a:defRPr>
            </a:pPr>
            <a:r>
              <a:t>• Valuation Step-Function Opacity: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Private tech valuations only update when a new funding round is announced. A company's true operational health may drift between pricing events.</a:t>
            </a:r>
          </a:p>
          <a:p>
            <a:pPr>
              <a:spcBef>
                <a:spcPts val="800"/>
              </a:spcBef>
              <a:defRPr b="1" sz="1050">
                <a:solidFill>
                  <a:srgbClr val="FFFFFF"/>
                </a:solidFill>
              </a:defRPr>
            </a:pPr>
            <a:r>
              <a:t>• Selection vs. Causation: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Elite VCs like Sequoia command high valuation correlations, but partly because they have privileged deal access to select the most promising founders.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ROADMAP FOR THE FINAL PROJECT</a:t>
            </a:r>
          </a:p>
          <a:p>
            <a:pPr>
              <a:spcBef>
                <a:spcPts val="800"/>
              </a:spcBef>
              <a:defRPr b="1" sz="1050">
                <a:solidFill>
                  <a:srgbClr val="FFFFFF"/>
                </a:solidFill>
              </a:defRPr>
            </a:pPr>
            <a:r>
              <a:t>• NLP &amp; Text Analytics: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Incorporate company pitch summaries and mission statements using text embeddings (TF-IDF or transformer embeddings) to identify semantic product trends.</a:t>
            </a:r>
          </a:p>
          <a:p>
            <a:pPr>
              <a:spcBef>
                <a:spcPts val="800"/>
              </a:spcBef>
              <a:defRPr b="1" sz="1050">
                <a:solidFill>
                  <a:srgbClr val="FFFFFF"/>
                </a:solidFill>
              </a:defRPr>
            </a:pPr>
            <a:r>
              <a:t>• Unsupervised Cluster Discovery: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Apply K-Means or t-SNE / UMAP dimensionality reduction to discover emerging startup archetypes beyond broad industry labels.</a:t>
            </a:r>
          </a:p>
          <a:p>
            <a:pPr>
              <a:spcBef>
                <a:spcPts val="800"/>
              </a:spcBef>
              <a:defRPr b="1" sz="1050">
                <a:solidFill>
                  <a:srgbClr val="FFFFFF"/>
                </a:solidFill>
              </a:defRPr>
            </a:pPr>
            <a:r>
              <a:t>• Deployment &amp; Cloud Hosting: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Deploy the Streamlit application to Streamlit Community Cloud so classmates and instructors can interact on mobile/web without local terminal setup.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